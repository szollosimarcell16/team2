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74" r:id="rId5"/>
    <p:sldId id="258" r:id="rId6"/>
    <p:sldId id="259" r:id="rId7"/>
    <p:sldId id="260" r:id="rId8"/>
    <p:sldId id="261" r:id="rId9"/>
    <p:sldId id="262" r:id="rId10"/>
    <p:sldId id="276" r:id="rId11"/>
    <p:sldId id="269" r:id="rId12"/>
    <p:sldId id="263" r:id="rId13"/>
    <p:sldId id="265" r:id="rId14"/>
    <p:sldId id="271" r:id="rId15"/>
    <p:sldId id="272" r:id="rId16"/>
    <p:sldId id="268" r:id="rId17"/>
    <p:sldId id="266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394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37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52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97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44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2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629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7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87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75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83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C7478-F4D5-4758-A97F-FEB5FCE927B6}" type="datetimeFigureOut">
              <a:rPr lang="hu-HU" smtClean="0"/>
              <a:t>2026. 05. 27.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0238DC8-CA9C-4110-8895-8184849DF7AE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47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83691E-C69B-49BB-84B9-8D3E3A961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dirty="0"/>
              <a:t>Projektmunka</a:t>
            </a:r>
            <a:br>
              <a:rPr lang="hu-HU" dirty="0"/>
            </a:br>
            <a:r>
              <a:rPr lang="hu-HU" dirty="0"/>
              <a:t>leírás</a:t>
            </a:r>
            <a:br>
              <a:rPr lang="hu-HU" dirty="0"/>
            </a:br>
            <a:r>
              <a:rPr lang="hu-HU" sz="2200" dirty="0"/>
              <a:t>(tudnivalók a hálózatról)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41C4B2-E1DC-4304-8EA7-766017B82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09" y="4335907"/>
            <a:ext cx="3625211" cy="1534805"/>
          </a:xfrm>
        </p:spPr>
        <p:txBody>
          <a:bodyPr>
            <a:normAutofit/>
          </a:bodyPr>
          <a:lstStyle/>
          <a:p>
            <a:r>
              <a:rPr lang="hu-HU" sz="2000" b="1" u="sng" dirty="0"/>
              <a:t>Kivitelezők: 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2000" dirty="0"/>
              <a:t>Szőllősi </a:t>
            </a:r>
            <a:r>
              <a:rPr lang="hu-HU" sz="2000" dirty="0" err="1"/>
              <a:t>marcell</a:t>
            </a:r>
            <a:r>
              <a:rPr lang="hu-HU" sz="2000" dirty="0"/>
              <a:t> </a:t>
            </a:r>
          </a:p>
          <a:p>
            <a:pPr marL="400050" indent="-400050">
              <a:buFont typeface="+mj-lt"/>
              <a:buAutoNum type="romanUcPeriod"/>
            </a:pPr>
            <a:r>
              <a:rPr lang="hu-HU" sz="2000" dirty="0"/>
              <a:t>Kunos </a:t>
            </a:r>
            <a:r>
              <a:rPr lang="hu-HU" sz="2000" dirty="0" err="1"/>
              <a:t>márkó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85486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5882DB-FA1E-133C-C78D-6767C19D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PILVAX KÁVÉHÁZ PROJEKT		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480E3B-FB68-740E-0E92-25680503F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82126"/>
          </a:xfrm>
        </p:spPr>
        <p:txBody>
          <a:bodyPr>
            <a:normAutofit/>
          </a:bodyPr>
          <a:lstStyle/>
          <a:p>
            <a:r>
              <a:rPr lang="hu-HU" sz="1600" dirty="0">
                <a:effectLst/>
              </a:rPr>
              <a:t>A kis belvárosi üzlethelyiségben 2012-ben nyitotta meg kapuit a Pilvax, ahol friss</a:t>
            </a:r>
            <a:r>
              <a:rPr lang="hu-HU" sz="1600" dirty="0"/>
              <a:t> </a:t>
            </a:r>
            <a:r>
              <a:rPr lang="hu-HU" sz="1600" dirty="0">
                <a:effectLst/>
              </a:rPr>
              <a:t>kávét és otthonos hangulatot kínál a siető városlakóknak.  Az első években a hely gyorsan a helyiek kedvencévé vált a kiváló minőségű kávé, a házilag készült sütemények és a meleg, barátságos légkör miatt.  A sikeren felbuzdulva 2016-ban megnyitották második üzletüket a városi egyetemisták által kedvelt negyedében, majd sorra követték a további fiókok. Ma már a Pilvax egy 12 üzletből álló helyi kávéházláncként működik.  Ami egy apró, álmodozó kávézóból indult, az mára a város egyik legkedveltebb, saját arculattal rendelkező kávéházláncává </a:t>
            </a:r>
            <a:r>
              <a:rPr lang="hu-HU" sz="1600" dirty="0" err="1">
                <a:effectLst/>
              </a:rPr>
              <a:t>nőtte</a:t>
            </a:r>
            <a:r>
              <a:rPr lang="hu-HU" sz="1600" dirty="0">
                <a:effectLst/>
              </a:rPr>
              <a:t> ki magát.</a:t>
            </a:r>
            <a:endParaRPr lang="hu-HU" sz="1600" dirty="0"/>
          </a:p>
          <a:p>
            <a:r>
              <a:rPr lang="hu-HU" sz="1600" dirty="0"/>
              <a:t>A Pilvax, ezért megkerestek minket, hogy a meglévő informatikai hálózatot korszerűsítsük és biztonságosabbá tegyük. Mi megterveztük és kiviteleztük a korszerűsítést, amely a következők szerint valósult meg.</a:t>
            </a:r>
          </a:p>
          <a:p>
            <a:r>
              <a:rPr lang="en-US" sz="1600" dirty="0"/>
              <a:t>We were happy to start working on this project because it gave us a good opportunity to improve our networking skills.</a:t>
            </a:r>
            <a:r>
              <a:rPr lang="hu-HU" sz="1600" dirty="0"/>
              <a:t> </a:t>
            </a:r>
            <a:r>
              <a:rPr lang="en-US" sz="1600" dirty="0"/>
              <a:t>During the project, we worked together as a team and learned many new things.</a:t>
            </a:r>
            <a:r>
              <a:rPr lang="hu-HU" sz="1600" dirty="0"/>
              <a:t> </a:t>
            </a:r>
            <a:r>
              <a:rPr lang="en-US" sz="1600" dirty="0"/>
              <a:t>Our goal was to create a modern, safe and easy-to-manage network system.</a:t>
            </a:r>
            <a:r>
              <a:rPr lang="hu-HU" sz="1600" dirty="0"/>
              <a:t> </a:t>
            </a:r>
            <a:r>
              <a:rPr lang="en-US" sz="1600" dirty="0"/>
              <a:t>We enjoyed planning and building the network step by step.</a:t>
            </a:r>
            <a:r>
              <a:rPr lang="hu-HU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837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057EFF-A63F-4CE9-8D54-80D0859B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841" y="1118849"/>
            <a:ext cx="7157874" cy="1049235"/>
          </a:xfrm>
        </p:spPr>
        <p:txBody>
          <a:bodyPr>
            <a:noAutofit/>
          </a:bodyPr>
          <a:lstStyle/>
          <a:p>
            <a:r>
              <a:rPr lang="hu-HU" sz="4400" dirty="0"/>
              <a:t>A hálózat topológiája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C72206A-1B23-4AB9-B687-63F6D7052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7063" y="1947897"/>
            <a:ext cx="7157874" cy="4910103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EDB0A7D5-1A7F-44BF-86F1-FD9E513A5B92}"/>
              </a:ext>
            </a:extLst>
          </p:cNvPr>
          <p:cNvSpPr/>
          <p:nvPr/>
        </p:nvSpPr>
        <p:spPr>
          <a:xfrm>
            <a:off x="18313" y="1850461"/>
            <a:ext cx="22669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hálózat felépítése: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hálózat több VLAN-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bontott, redundáns, hierarchikus topológiát alkalmaz – három fő rétegből áll.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F9C6E05-87EF-40E0-82AB-94146C7B095C}"/>
              </a:ext>
            </a:extLst>
          </p:cNvPr>
          <p:cNvSpPr/>
          <p:nvPr/>
        </p:nvSpPr>
        <p:spPr>
          <a:xfrm>
            <a:off x="9674937" y="2373681"/>
            <a:ext cx="30280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Redundancia és biztonság: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D20D42E-06CC-42C3-B03F-BFA7B08BE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691" y="2164359"/>
            <a:ext cx="6648396" cy="3196205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A9E28BA1-2584-41C1-9950-DB12DE4C5F9F}"/>
              </a:ext>
            </a:extLst>
          </p:cNvPr>
          <p:cNvSpPr/>
          <p:nvPr/>
        </p:nvSpPr>
        <p:spPr>
          <a:xfrm>
            <a:off x="18313" y="3463555"/>
            <a:ext cx="24455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réteg – végfelhasználók csatlakozása (GUEST WiFi + vezetékes, DESK irodai gépek)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réteg – VLAN-ok közötti 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hozzáférési szabályok.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réteg – két darab 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multilayer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nagy sebességű belső forgalom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35C44B3-44AF-4F60-9B4A-3A6D8741948D}"/>
              </a:ext>
            </a:extLst>
          </p:cNvPr>
          <p:cNvSpPr/>
          <p:nvPr/>
        </p:nvSpPr>
        <p:spPr>
          <a:xfrm>
            <a:off x="511729" y="3180229"/>
            <a:ext cx="9605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Rétegek: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13E0D6F3-3F60-47D5-98D2-7683BDCE8BA0}"/>
              </a:ext>
            </a:extLst>
          </p:cNvPr>
          <p:cNvSpPr/>
          <p:nvPr/>
        </p:nvSpPr>
        <p:spPr>
          <a:xfrm>
            <a:off x="9793869" y="2740954"/>
            <a:ext cx="220766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 – az átjáró redundanciát két router biztosítja (RGUEST és RINNER), kiesés esetén automatikus átváltással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 alagutak – belső, titkosított kapcsolat a routerek között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 tűzfal + DMZ – a szerver zóna védelmére</a:t>
            </a:r>
          </a:p>
          <a:p>
            <a:pPr marL="342900" indent="-342900">
              <a:buFont typeface="+mj-lt"/>
              <a:buAutoNum type="arabicPeriod"/>
            </a:pPr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Szimulált ISP – a publikus internet kapcsolat modellezéséhez</a:t>
            </a:r>
          </a:p>
        </p:txBody>
      </p:sp>
    </p:spTree>
    <p:extLst>
      <p:ext uri="{BB962C8B-B14F-4D97-AF65-F5344CB8AC3E}">
        <p14:creationId xmlns:p14="http://schemas.microsoft.com/office/powerpoint/2010/main" val="421450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D6FF05-8B15-4979-84CB-2B3AE679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946" y="1307508"/>
            <a:ext cx="6338108" cy="998782"/>
          </a:xfrm>
        </p:spPr>
        <p:txBody>
          <a:bodyPr>
            <a:normAutofit/>
          </a:bodyPr>
          <a:lstStyle/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VLAN-ok előnyei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E37E5C-73DE-4060-A21E-EA8E0DE1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VLAN-ok segítségével a hálózat logikailag elkülönített részekre osztható.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egyes részlegek külön IP-tartományt kaptak, így a hálózat átláthatóbb és biztonságosabb lett.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VLAN-ok csökkentik a felesleges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forgalmat, ezáltal javítják a hálózat teljesítményét.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vendég,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eszköz hálózatok elkülönítése növeli az adatbiztonságot.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hálózat könnyebben kezelhető, bővíthető és hibakereshető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lett.A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switchek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kapcsolatokon keresztül továbbítják a VLAN-forgalmat.</a:t>
            </a:r>
          </a:p>
        </p:txBody>
      </p:sp>
    </p:spTree>
    <p:extLst>
      <p:ext uri="{BB962C8B-B14F-4D97-AF65-F5344CB8AC3E}">
        <p14:creationId xmlns:p14="http://schemas.microsoft.com/office/powerpoint/2010/main" val="62558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B24600A8-1EC4-42B3-BF93-A648F040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47" y="1950295"/>
            <a:ext cx="7157324" cy="4907705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803B3154-482C-4CB8-A182-9C1CDCAB9696}"/>
              </a:ext>
            </a:extLst>
          </p:cNvPr>
          <p:cNvSpPr/>
          <p:nvPr/>
        </p:nvSpPr>
        <p:spPr>
          <a:xfrm>
            <a:off x="3048000" y="8770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Szétválasztani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hálózatokat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biztonság és átláthatóság miatt kiesésmentes működés biztosítása redundanciával, reális vállalati hálózat modellezése.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2AE4040B-8F6F-45ED-8163-6C289AFE8A70}"/>
              </a:ext>
            </a:extLst>
          </p:cNvPr>
          <p:cNvSpPr/>
          <p:nvPr/>
        </p:nvSpPr>
        <p:spPr>
          <a:xfrm>
            <a:off x="3238006" y="46083"/>
            <a:ext cx="571598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A topológia célja:</a:t>
            </a:r>
          </a:p>
        </p:txBody>
      </p:sp>
      <p:cxnSp>
        <p:nvCxnSpPr>
          <p:cNvPr id="10" name="Összekötő: szögletes 9">
            <a:extLst>
              <a:ext uri="{FF2B5EF4-FFF2-40B4-BE49-F238E27FC236}">
                <a16:creationId xmlns:a16="http://schemas.microsoft.com/office/drawing/2014/main" id="{0A2116BD-89F8-4858-9D6B-DD827A25F282}"/>
              </a:ext>
            </a:extLst>
          </p:cNvPr>
          <p:cNvCxnSpPr>
            <a:cxnSpLocks/>
          </p:cNvCxnSpPr>
          <p:nvPr/>
        </p:nvCxnSpPr>
        <p:spPr>
          <a:xfrm>
            <a:off x="8882155" y="541343"/>
            <a:ext cx="190006" cy="877163"/>
          </a:xfrm>
          <a:prstGeom prst="bentConnector3">
            <a:avLst>
              <a:gd name="adj1" fmla="val 2203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Kép 5">
            <a:extLst>
              <a:ext uri="{FF2B5EF4-FFF2-40B4-BE49-F238E27FC236}">
                <a16:creationId xmlns:a16="http://schemas.microsoft.com/office/drawing/2014/main" id="{79F76C83-C398-4699-A46F-E015D008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887" y="2249503"/>
            <a:ext cx="6596444" cy="303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7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DA47E78F-DD17-4B0B-8E8A-6728AD7F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38" y="2026396"/>
            <a:ext cx="7157324" cy="4907705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A347A63-1D6D-4E13-9B7C-FE21A14DA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988" y="1167895"/>
            <a:ext cx="6824674" cy="990439"/>
          </a:xfrm>
        </p:spPr>
        <p:txBody>
          <a:bodyPr/>
          <a:lstStyle/>
          <a:p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Alapbeállítások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A358C53-BDCE-45B1-9375-467C2FE88132}"/>
              </a:ext>
            </a:extLst>
          </p:cNvPr>
          <p:cNvSpPr/>
          <p:nvPr/>
        </p:nvSpPr>
        <p:spPr>
          <a:xfrm>
            <a:off x="9610886" y="2099523"/>
            <a:ext cx="2683663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Miért VLAN?</a:t>
            </a:r>
          </a:p>
          <a:p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Biztonság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(vendégek nem látják az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hálót)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Kevesebb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broadcast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Könnyebb menedzsment.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EE540C5-966F-4E06-BD37-93CAFCC63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658" y="2290273"/>
            <a:ext cx="6546078" cy="30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0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4B55BF-91C5-4D61-B04B-48AED8B5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99" y="1177743"/>
            <a:ext cx="9950429" cy="1049235"/>
          </a:xfrm>
        </p:spPr>
        <p:txBody>
          <a:bodyPr>
            <a:normAutofit/>
          </a:bodyPr>
          <a:lstStyle/>
          <a:p>
            <a:r>
              <a:rPr lang="hu-H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konfiguráció (logikai)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34C8E21-DACE-454E-BC50-2FC8B8D45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38" y="1950295"/>
            <a:ext cx="7157324" cy="4907705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8B00EF4A-3B5F-405D-9146-6C10E31D6CB5}"/>
              </a:ext>
            </a:extLst>
          </p:cNvPr>
          <p:cNvSpPr/>
          <p:nvPr/>
        </p:nvSpPr>
        <p:spPr>
          <a:xfrm>
            <a:off x="2786639" y="2147662"/>
            <a:ext cx="66688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hu-HU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switchek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Portok </a:t>
            </a:r>
            <a:r>
              <a:rPr lang="hu-H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módban VLAN-hozzárendelés.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5905410A-07C3-4853-9350-2759A49EB4B8}"/>
              </a:ext>
            </a:extLst>
          </p:cNvPr>
          <p:cNvSpPr/>
          <p:nvPr/>
        </p:nvSpPr>
        <p:spPr>
          <a:xfrm>
            <a:off x="2786639" y="2645587"/>
            <a:ext cx="63824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r>
              <a:rPr lang="hu-H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switchek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Trunk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linkek </a:t>
            </a:r>
            <a:r>
              <a:rPr lang="hu-H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-VLAN </a:t>
            </a:r>
            <a:r>
              <a:rPr lang="hu-HU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HSRP konfigurálva.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97DF8C3C-F045-4CD4-B883-BAAFBB88758E}"/>
              </a:ext>
            </a:extLst>
          </p:cNvPr>
          <p:cNvSpPr/>
          <p:nvPr/>
        </p:nvSpPr>
        <p:spPr>
          <a:xfrm>
            <a:off x="4013096" y="3787471"/>
            <a:ext cx="4273606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Miért </a:t>
            </a:r>
            <a:r>
              <a:rPr lang="hu-HU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trunk</a:t>
            </a:r>
            <a:r>
              <a:rPr lang="hu-HU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hu-H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Több VLAN forgalma egy fizikai linken.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DC5FD46-8DF2-4C7B-8421-36C525089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24" y="4404741"/>
            <a:ext cx="2565235" cy="132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4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F2D4BE-ED11-44FC-9860-EF8699B8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332" y="1165832"/>
            <a:ext cx="7645767" cy="967346"/>
          </a:xfrm>
        </p:spPr>
        <p:txBody>
          <a:bodyPr>
            <a:normAutofit/>
          </a:bodyPr>
          <a:lstStyle/>
          <a:p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 (redundancia)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CD2598-6C53-4A68-B9F5-E81B38894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hu-H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multilayer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Aktív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Secondary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multilayer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Tartalék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az első kiesik, a második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automatikusan átveszi az átjáró szerepét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87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BD7957-0582-44AE-895D-CEC5A424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368" y="1213104"/>
            <a:ext cx="4809263" cy="881087"/>
          </a:xfrm>
        </p:spPr>
        <p:txBody>
          <a:bodyPr>
            <a:normAutofit/>
          </a:bodyPr>
          <a:lstStyle/>
          <a:p>
            <a:r>
              <a:rPr lang="hu-H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GRE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F7075C9-9BD4-48E6-81A4-BE2300938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338" y="1950295"/>
            <a:ext cx="7157324" cy="4907705"/>
          </a:xfrm>
          <a:prstGeom prst="rect">
            <a:avLst/>
          </a:prstGeom>
        </p:spPr>
      </p:pic>
      <p:sp>
        <p:nvSpPr>
          <p:cNvPr id="5" name="Téglalap 4">
            <a:extLst>
              <a:ext uri="{FF2B5EF4-FFF2-40B4-BE49-F238E27FC236}">
                <a16:creationId xmlns:a16="http://schemas.microsoft.com/office/drawing/2014/main" id="{B026F8D7-CF7A-4E4F-A3E6-452AAAE01A98}"/>
              </a:ext>
            </a:extLst>
          </p:cNvPr>
          <p:cNvSpPr/>
          <p:nvPr/>
        </p:nvSpPr>
        <p:spPr>
          <a:xfrm>
            <a:off x="2880049" y="223808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Routerek között</a:t>
            </a: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/30-as pont–pont hálózatok GRE alagutak (10.10.10.0/30 és 10.10.10.4/30)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4AF5BC47-1816-4C10-BB37-598295119C7A}"/>
              </a:ext>
            </a:extLst>
          </p:cNvPr>
          <p:cNvSpPr/>
          <p:nvPr/>
        </p:nvSpPr>
        <p:spPr>
          <a:xfrm>
            <a:off x="3048000" y="317851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Miért</a:t>
            </a:r>
            <a:r>
              <a:rPr lang="hu-HU" sz="2000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Logikai kapcsolat kialakítása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Redundáns útvonalak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 támogatás</a:t>
            </a:r>
          </a:p>
        </p:txBody>
      </p:sp>
    </p:spTree>
    <p:extLst>
      <p:ext uri="{BB962C8B-B14F-4D97-AF65-F5344CB8AC3E}">
        <p14:creationId xmlns:p14="http://schemas.microsoft.com/office/powerpoint/2010/main" val="348034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39E774-05DB-4CDA-967A-452BC7B8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56" y="1943561"/>
            <a:ext cx="4052611" cy="4150737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8C90CC5-F762-422E-91B1-47FF3F69E6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99"/>
          <a:stretch/>
        </p:blipFill>
        <p:spPr>
          <a:xfrm>
            <a:off x="74833" y="1943561"/>
            <a:ext cx="7892403" cy="4150737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FB912581-26C8-4864-8AF4-664B1DFF5374}"/>
              </a:ext>
            </a:extLst>
          </p:cNvPr>
          <p:cNvSpPr txBox="1"/>
          <p:nvPr/>
        </p:nvSpPr>
        <p:spPr>
          <a:xfrm>
            <a:off x="3882092" y="1233182"/>
            <a:ext cx="44278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Hálózat tesztelése</a:t>
            </a:r>
          </a:p>
        </p:txBody>
      </p:sp>
    </p:spTree>
    <p:extLst>
      <p:ext uri="{BB962C8B-B14F-4D97-AF65-F5344CB8AC3E}">
        <p14:creationId xmlns:p14="http://schemas.microsoft.com/office/powerpoint/2010/main" val="363522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um 4">
            <a:extLst>
              <a:ext uri="{FF2B5EF4-FFF2-40B4-BE49-F238E27FC236}">
                <a16:creationId xmlns:a16="http://schemas.microsoft.com/office/drawing/2014/main" id="{6B1D0505-5F2B-4E29-9241-5263A0136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61234"/>
              </p:ext>
            </p:extLst>
          </p:nvPr>
        </p:nvGraphicFramePr>
        <p:xfrm>
          <a:off x="1409337" y="2122415"/>
          <a:ext cx="9373325" cy="382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3" imgW="8892679" imgH="3638791" progId="Word.Document.12">
                  <p:embed/>
                </p:oleObj>
              </mc:Choice>
              <mc:Fallback>
                <p:oleObj name="Document" r:id="rId3" imgW="8892679" imgH="36387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9337" y="2122415"/>
                        <a:ext cx="9373325" cy="382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zövegdoboz 5">
            <a:extLst>
              <a:ext uri="{FF2B5EF4-FFF2-40B4-BE49-F238E27FC236}">
                <a16:creationId xmlns:a16="http://schemas.microsoft.com/office/drawing/2014/main" id="{BBCAC679-48E6-4063-B2C6-A470A0F75D41}"/>
              </a:ext>
            </a:extLst>
          </p:cNvPr>
          <p:cNvSpPr txBox="1"/>
          <p:nvPr/>
        </p:nvSpPr>
        <p:spPr>
          <a:xfrm>
            <a:off x="3723394" y="1065402"/>
            <a:ext cx="47452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Szegmens táblázat</a:t>
            </a:r>
          </a:p>
        </p:txBody>
      </p:sp>
    </p:spTree>
    <p:extLst>
      <p:ext uri="{BB962C8B-B14F-4D97-AF65-F5344CB8AC3E}">
        <p14:creationId xmlns:p14="http://schemas.microsoft.com/office/powerpoint/2010/main" val="41501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7CB7D3-49DB-4434-952D-7FFB6224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132" y="1164573"/>
            <a:ext cx="5227736" cy="715419"/>
          </a:xfrm>
        </p:spPr>
        <p:txBody>
          <a:bodyPr>
            <a:normAutofit/>
          </a:bodyPr>
          <a:lstStyle/>
          <a:p>
            <a:r>
              <a:rPr lang="hu-H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Tűzfal (ASA – DMZ)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96B9B7-A03A-4598-9176-FC2DB76E89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6265" y="2103742"/>
            <a:ext cx="33816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DMZ hálózat:        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172.16.0.0/24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Webszerver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         172.16.0.11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Publikus IP NAT-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olás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irányába csak szükséges forgalom engedélyezett.</a:t>
            </a:r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42E670F0-47CC-4761-A0E8-31455A0B2C91}"/>
              </a:ext>
            </a:extLst>
          </p:cNvPr>
          <p:cNvSpPr/>
          <p:nvPr/>
        </p:nvSpPr>
        <p:spPr>
          <a:xfrm>
            <a:off x="2948473" y="2267339"/>
            <a:ext cx="41987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C80E2776-8740-4E1B-B5BF-908D78CDD6A6}"/>
              </a:ext>
            </a:extLst>
          </p:cNvPr>
          <p:cNvSpPr/>
          <p:nvPr/>
        </p:nvSpPr>
        <p:spPr>
          <a:xfrm>
            <a:off x="2808514" y="2584580"/>
            <a:ext cx="559837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2982BED2-74E6-44F4-BF9A-030644AFDAEB}"/>
              </a:ext>
            </a:extLst>
          </p:cNvPr>
          <p:cNvSpPr/>
          <p:nvPr/>
        </p:nvSpPr>
        <p:spPr>
          <a:xfrm>
            <a:off x="1386265" y="4061908"/>
            <a:ext cx="41467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Miért DMZ?</a:t>
            </a:r>
          </a:p>
          <a:p>
            <a:endParaRPr lang="hu-H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publikus szerver nem érheti el közvetlenül a belső hálózatot, biztonságos elválasztás.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DE394C2-B725-4377-BB67-DA54DF74A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47" y="2944536"/>
            <a:ext cx="6091605" cy="185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0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34E819-D10E-4BB2-BB33-07FDC734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46" y="1203649"/>
            <a:ext cx="9871788" cy="724750"/>
          </a:xfrm>
        </p:spPr>
        <p:txBody>
          <a:bodyPr>
            <a:noAutofit/>
          </a:bodyPr>
          <a:lstStyle/>
          <a:p>
            <a:r>
              <a:rPr lang="hu-H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 (opcionális, modern hálózat)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88F3E5A-9D55-4F32-9EE3-78EFC725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240427"/>
          </a:xfrm>
        </p:spPr>
        <p:txBody>
          <a:bodyPr>
            <a:normAutofit fontScale="92500" lnSpcReduction="20000"/>
          </a:bodyPr>
          <a:lstStyle/>
          <a:p>
            <a:r>
              <a:rPr lang="hu-H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2001:db8:cafe:10::/64Core: 2001:db8:cafe:1000::/64</a:t>
            </a:r>
          </a:p>
          <a:p>
            <a:r>
              <a:rPr lang="hu-H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2001:db8:cafe:9999::/48</a:t>
            </a:r>
          </a:p>
          <a:p>
            <a:r>
              <a:rPr lang="hu-HU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hu-H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2001:db8:cafe:1000::/64</a:t>
            </a:r>
          </a:p>
        </p:txBody>
      </p:sp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75307A3A-8A20-4B1B-B60D-A8B9767A0A42}"/>
              </a:ext>
            </a:extLst>
          </p:cNvPr>
          <p:cNvSpPr/>
          <p:nvPr/>
        </p:nvSpPr>
        <p:spPr>
          <a:xfrm>
            <a:off x="2817845" y="2191714"/>
            <a:ext cx="9144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Nyíl: jobbra mutató 6">
            <a:extLst>
              <a:ext uri="{FF2B5EF4-FFF2-40B4-BE49-F238E27FC236}">
                <a16:creationId xmlns:a16="http://schemas.microsoft.com/office/drawing/2014/main" id="{E51188CC-D7CF-44B8-AFCF-70A6057AF0A6}"/>
              </a:ext>
            </a:extLst>
          </p:cNvPr>
          <p:cNvSpPr/>
          <p:nvPr/>
        </p:nvSpPr>
        <p:spPr>
          <a:xfrm>
            <a:off x="2817845" y="2606741"/>
            <a:ext cx="9144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25D06C5-6A3B-4667-9050-BB9CEFB8D692}"/>
              </a:ext>
            </a:extLst>
          </p:cNvPr>
          <p:cNvSpPr/>
          <p:nvPr/>
        </p:nvSpPr>
        <p:spPr>
          <a:xfrm>
            <a:off x="1446246" y="3446510"/>
            <a:ext cx="323197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Miért IPv6?</a:t>
            </a:r>
          </a:p>
          <a:p>
            <a:r>
              <a:rPr lang="hu-HU" sz="2400" dirty="0"/>
              <a:t>	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Jövőbiztos hálózat,</a:t>
            </a:r>
          </a:p>
          <a:p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Dual-stack</a:t>
            </a:r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működés</a:t>
            </a:r>
            <a:r>
              <a:rPr lang="hu-H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C1939F52-C680-4136-85AC-11528FB98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90" y="3224809"/>
            <a:ext cx="4592774" cy="2719406"/>
          </a:xfrm>
          <a:prstGeom prst="rect">
            <a:avLst/>
          </a:prstGeom>
        </p:spPr>
      </p:pic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8AFF919B-2F3C-4CB1-B0DC-7EE543391F26}"/>
              </a:ext>
            </a:extLst>
          </p:cNvPr>
          <p:cNvCxnSpPr/>
          <p:nvPr/>
        </p:nvCxnSpPr>
        <p:spPr>
          <a:xfrm>
            <a:off x="1577836" y="3256161"/>
            <a:ext cx="96086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Nyíl: jobbra mutató 16">
            <a:extLst>
              <a:ext uri="{FF2B5EF4-FFF2-40B4-BE49-F238E27FC236}">
                <a16:creationId xmlns:a16="http://schemas.microsoft.com/office/drawing/2014/main" id="{4F5BF7FA-D680-47C6-BD45-98D6D5ED5CF7}"/>
              </a:ext>
            </a:extLst>
          </p:cNvPr>
          <p:cNvSpPr/>
          <p:nvPr/>
        </p:nvSpPr>
        <p:spPr>
          <a:xfrm>
            <a:off x="2453951" y="3024052"/>
            <a:ext cx="127829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219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97619F-324E-8B73-0CB9-1100F249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WINDOWS SZERVER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8AB7728-108A-4284-B9D6-2B5FF711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3" y="2788882"/>
            <a:ext cx="5931803" cy="406737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2848000-51C3-9360-2720-2130FDF9A4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572"/>
          <a:stretch/>
        </p:blipFill>
        <p:spPr>
          <a:xfrm>
            <a:off x="370912" y="3005793"/>
            <a:ext cx="5521740" cy="2598976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CC3CDC0-17BF-4E6F-8FE1-6D4489FBA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649" y="2788882"/>
            <a:ext cx="6028699" cy="413302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2AB78AE-CCA8-C7B5-8DF1-54FEC3A9E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648" y="3005793"/>
            <a:ext cx="5554703" cy="2559591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A783F62A-22BE-466D-86D3-B916AB30C4B6}"/>
              </a:ext>
            </a:extLst>
          </p:cNvPr>
          <p:cNvSpPr/>
          <p:nvPr/>
        </p:nvSpPr>
        <p:spPr>
          <a:xfrm>
            <a:off x="1388815" y="190861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IP-cím beállítása: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192.168.20.5   255.255.255.0</a:t>
            </a:r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6419ED7D-D254-4EA2-8A5D-D20BFDBCAE5B}"/>
              </a:ext>
            </a:extLst>
          </p:cNvPr>
          <p:cNvSpPr/>
          <p:nvPr/>
        </p:nvSpPr>
        <p:spPr>
          <a:xfrm>
            <a:off x="6129649" y="189938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Szolgáltatások: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</a:t>
            </a:r>
          </a:p>
        </p:txBody>
      </p:sp>
    </p:spTree>
    <p:extLst>
      <p:ext uri="{BB962C8B-B14F-4D97-AF65-F5344CB8AC3E}">
        <p14:creationId xmlns:p14="http://schemas.microsoft.com/office/powerpoint/2010/main" val="397242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35A105-BFD9-D5E8-40C1-44E5EAC0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09" y="393283"/>
            <a:ext cx="9603275" cy="1049235"/>
          </a:xfrm>
        </p:spPr>
        <p:txBody>
          <a:bodyPr/>
          <a:lstStyle/>
          <a:p>
            <a:r>
              <a:rPr lang="hu-HU" dirty="0"/>
              <a:t>LINUX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AC4C6E-C9C8-8A4D-921E-1E6E420C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1" y="2126827"/>
            <a:ext cx="9603275" cy="3450613"/>
          </a:xfrm>
        </p:spPr>
        <p:txBody>
          <a:bodyPr/>
          <a:lstStyle/>
          <a:p>
            <a:r>
              <a:rPr lang="hu-HU" u="sng" dirty="0"/>
              <a:t>Az IP-cím beállítása:</a:t>
            </a:r>
          </a:p>
          <a:p>
            <a:pPr lvl="1"/>
            <a:r>
              <a:rPr lang="hu-HU" dirty="0"/>
              <a:t>172.16.0.11</a:t>
            </a:r>
          </a:p>
          <a:p>
            <a:pPr lvl="1"/>
            <a:r>
              <a:rPr lang="hu-HU" dirty="0"/>
              <a:t>255.255.255.0</a:t>
            </a:r>
          </a:p>
          <a:p>
            <a:pPr marL="0" lvl="1"/>
            <a:r>
              <a:rPr lang="hu-HU" u="sng" dirty="0"/>
              <a:t>Szolgáltatások</a:t>
            </a:r>
            <a:r>
              <a:rPr lang="hu-HU" dirty="0"/>
              <a:t>: </a:t>
            </a:r>
          </a:p>
          <a:p>
            <a:pPr marL="457200" lvl="2"/>
            <a:r>
              <a:rPr lang="hu-HU" dirty="0"/>
              <a:t>Levelező szerver</a:t>
            </a:r>
          </a:p>
          <a:p>
            <a:pPr marL="457200" lvl="2"/>
            <a:r>
              <a:rPr lang="hu-HU" dirty="0"/>
              <a:t>Adatbázis szerver</a:t>
            </a:r>
          </a:p>
          <a:p>
            <a:pPr marL="457200" lvl="2"/>
            <a:endParaRPr lang="hu-HU" dirty="0"/>
          </a:p>
          <a:p>
            <a:pPr marL="457200" lvl="2"/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90342C8-ECE6-29BA-CEA8-53FEB3EC4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304" y="1971605"/>
            <a:ext cx="3368051" cy="412154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6A84015-1907-0A9D-9D5C-E8A5A4580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938" y="1971605"/>
            <a:ext cx="5100428" cy="219626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8879969-5264-4B1D-B11A-80AAC7574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938" y="4230169"/>
            <a:ext cx="5100428" cy="186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2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339595-4A7F-45C0-9399-3C888EC2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067" y="802988"/>
            <a:ext cx="5018757" cy="643812"/>
          </a:xfrm>
        </p:spPr>
        <p:txBody>
          <a:bodyPr>
            <a:noAutofit/>
          </a:bodyPr>
          <a:lstStyle/>
          <a:p>
            <a:r>
              <a:rPr lang="hu-H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csináltunk?</a:t>
            </a:r>
            <a:br>
              <a:rPr lang="hu-H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hu-H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21F080-4E80-4453-BEBC-F950DD4CF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968" y="1915064"/>
            <a:ext cx="9603275" cy="3450613"/>
          </a:xfrm>
        </p:spPr>
        <p:txBody>
          <a:bodyPr>
            <a:normAutofit/>
          </a:bodyPr>
          <a:lstStyle/>
          <a:p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VLAN-okkal szegmentált hálózatot építettünk.</a:t>
            </a:r>
          </a:p>
          <a:p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Redundáns </a:t>
            </a:r>
            <a:r>
              <a:rPr lang="hu-H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réteget alakítottunk ki.</a:t>
            </a:r>
          </a:p>
          <a:p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Tűzfallal védett DMZ-t hoztunk létre.</a:t>
            </a:r>
          </a:p>
          <a:p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elérést biztosítottunk NAT-</a:t>
            </a:r>
            <a:r>
              <a:rPr lang="hu-H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</a:t>
            </a:r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és Linux szerver kialakítása.</a:t>
            </a:r>
            <a:b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34D97225-4BAC-4077-8601-75481753CF56}"/>
              </a:ext>
            </a:extLst>
          </p:cNvPr>
          <p:cNvSpPr/>
          <p:nvPr/>
        </p:nvSpPr>
        <p:spPr>
          <a:xfrm>
            <a:off x="1339611" y="4058931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Hogyan?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u-H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eszközökkel,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és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eszközök kombinálásával, HSRP + GRE + statikus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használatával.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3A68EE4-511E-4A72-B754-7E52969CDEFE}"/>
              </a:ext>
            </a:extLst>
          </p:cNvPr>
          <p:cNvSpPr/>
          <p:nvPr/>
        </p:nvSpPr>
        <p:spPr>
          <a:xfrm>
            <a:off x="7318309" y="2067836"/>
            <a:ext cx="441026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Miért?</a:t>
            </a:r>
          </a:p>
          <a:p>
            <a:endParaRPr lang="hu-H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Biztonság,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Skálázhatóság,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Magas rendelkezésre állás,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Valós vállalati környezet szimulálása.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Illetéktelen hozzáférések megelőzése.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Felhasználói kapcsolattartás (levelező szerver)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Raktározási szoftver adatainak biztonsága.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Összekötő: szögletes 6">
            <a:extLst>
              <a:ext uri="{FF2B5EF4-FFF2-40B4-BE49-F238E27FC236}">
                <a16:creationId xmlns:a16="http://schemas.microsoft.com/office/drawing/2014/main" id="{E30B6216-16A7-4B68-BCFA-133A377BB2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92897" y="4413379"/>
            <a:ext cx="391886" cy="26125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Összekötő: szögletes 10">
            <a:extLst>
              <a:ext uri="{FF2B5EF4-FFF2-40B4-BE49-F238E27FC236}">
                <a16:creationId xmlns:a16="http://schemas.microsoft.com/office/drawing/2014/main" id="{D0BF72ED-AF45-4822-A35B-756B38B20A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65081" y="2509434"/>
            <a:ext cx="541061" cy="11285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191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974AD6-DB5B-4BDE-B0C5-78487AF85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238" y="1278294"/>
            <a:ext cx="3913523" cy="659436"/>
          </a:xfrm>
        </p:spPr>
        <p:txBody>
          <a:bodyPr>
            <a:normAutofit fontScale="90000"/>
          </a:bodyPr>
          <a:lstStyle/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Összegzés 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8A3579D3-DA11-4E37-9B3F-A72A53DB2C5A}"/>
              </a:ext>
            </a:extLst>
          </p:cNvPr>
          <p:cNvSpPr/>
          <p:nvPr/>
        </p:nvSpPr>
        <p:spPr>
          <a:xfrm>
            <a:off x="2524591" y="1919832"/>
            <a:ext cx="64684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hálózat hierarchikus felépítésű,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-okkal szegmentált,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HSRP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-vel redundáns átjárót biztosít,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alagutakkal és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DMZ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-vel növeli a biztonságot, valamint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címezést is alkalmaz.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4B0037C-64D0-4DE5-B38B-475F79967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18" y="3073995"/>
            <a:ext cx="5498839" cy="3770499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2ECDAB84-1942-450A-9DE7-1965EEC91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204" y="3294090"/>
            <a:ext cx="5007557" cy="236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2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883947-A0BE-A045-8609-961F8FD5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385" y="3087324"/>
            <a:ext cx="7323225" cy="855501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FBD99BB2-3AFD-CE5E-CA8F-3D2B9F84E1AD}"/>
              </a:ext>
            </a:extLst>
          </p:cNvPr>
          <p:cNvSpPr txBox="1"/>
          <p:nvPr/>
        </p:nvSpPr>
        <p:spPr>
          <a:xfrm>
            <a:off x="0" y="5811140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Szőllősi Marcell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D626DB0-1909-274B-C7CA-BD4ABC6A51B8}"/>
              </a:ext>
            </a:extLst>
          </p:cNvPr>
          <p:cNvSpPr txBox="1"/>
          <p:nvPr/>
        </p:nvSpPr>
        <p:spPr>
          <a:xfrm>
            <a:off x="10752439" y="5811140"/>
            <a:ext cx="14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Kunos Márkó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9B2A413-551C-404C-B41B-6391597A5F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963"/>
          <a:stretch/>
        </p:blipFill>
        <p:spPr>
          <a:xfrm>
            <a:off x="0" y="0"/>
            <a:ext cx="1595322" cy="10194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77802946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797</Words>
  <Application>Microsoft Office PowerPoint</Application>
  <PresentationFormat>Szélesvásznú</PresentationFormat>
  <Paragraphs>109</Paragraphs>
  <Slides>18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4" baseType="lpstr">
      <vt:lpstr>Arial</vt:lpstr>
      <vt:lpstr>Gill Sans MT</vt:lpstr>
      <vt:lpstr>Times New Roman</vt:lpstr>
      <vt:lpstr>Wingdings</vt:lpstr>
      <vt:lpstr>Galéria</vt:lpstr>
      <vt:lpstr>Document</vt:lpstr>
      <vt:lpstr>Projektmunka leírás (tudnivalók a hálózatról)</vt:lpstr>
      <vt:lpstr>PILVAX KÁVÉHÁZ PROJEKT   </vt:lpstr>
      <vt:lpstr>A hálózat topológiája</vt:lpstr>
      <vt:lpstr>A VLAN-ok előnyei</vt:lpstr>
      <vt:lpstr>PowerPoint-bemutató</vt:lpstr>
      <vt:lpstr>Alapbeállítások</vt:lpstr>
      <vt:lpstr>switch konfiguráció (logikai)</vt:lpstr>
      <vt:lpstr>HSRP (redundancia)</vt:lpstr>
      <vt:lpstr>Routing és GRE</vt:lpstr>
      <vt:lpstr>PowerPoint-bemutató</vt:lpstr>
      <vt:lpstr>PowerPoint-bemutató</vt:lpstr>
      <vt:lpstr>Tűzfal (ASA – DMZ)</vt:lpstr>
      <vt:lpstr>IPv6 (opcionális, modern hálózat)</vt:lpstr>
      <vt:lpstr>WINDOWS SZERVER</vt:lpstr>
      <vt:lpstr>LINUX </vt:lpstr>
      <vt:lpstr>Mit csináltunk? </vt:lpstr>
      <vt:lpstr>Összegzés 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Projektmunka leírás (tudnivalók a hálózatról)</dc:title>
  <dc:creator>Ágazati2023</dc:creator>
  <cp:lastModifiedBy>Kunos Márkó Ferdinán</cp:lastModifiedBy>
  <cp:revision>28</cp:revision>
  <dcterms:created xsi:type="dcterms:W3CDTF">2026-02-18T09:11:03Z</dcterms:created>
  <dcterms:modified xsi:type="dcterms:W3CDTF">2026-05-27T19:30:53Z</dcterms:modified>
</cp:coreProperties>
</file>